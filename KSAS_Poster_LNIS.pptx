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66640" cy="427939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66640" cy="42793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28803600" cy="4754880"/>
          </a:xfrm>
          <a:prstGeom prst="rect">
            <a:avLst/>
          </a:prstGeom>
          <a:solidFill>
            <a:srgbClr val="0F172A"/>
          </a:solidFill>
          <a:ln w="508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411480"/>
          <a:lstStyle/>
          <a:p>
            <a:pPr algn="ctr">
              <a:spcAft>
                <a:spcPts val="1200"/>
              </a:spcAft>
            </a:pPr>
            <a:r>
              <a:rPr sz="2400" b="1">
                <a:solidFill>
                  <a:srgbClr val="2DD4BF"/>
                </a:solidFill>
                <a:latin typeface="맑은 고딕"/>
              </a:rPr>
              <a:t>한국항공우주학회 학술발표회 (KSAS Conference Poster Session)</a:t>
            </a:r>
          </a:p>
          <a:p>
            <a:pPr algn="ctr">
              <a:spcAft>
                <a:spcPts val="14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달 탐사 항법신호(LunaNet AFS)의 우주 지연감내네트워크(DTN/HDTN) 전송을 위한
프레임 부호화 및 시계오차 흡수 기반 측위 검증 시스템 설계</a:t>
            </a:r>
          </a:p>
          <a:p>
            <a:pPr algn="ctr">
              <a:spcAft>
                <a:spcPts val="1600"/>
              </a:spcAft>
            </a:pPr>
            <a:r>
              <a:rPr sz="2200">
                <a:solidFill>
                  <a:srgbClr val="94A3B8"/>
                </a:solidFill>
                <a:latin typeface="맑은 고딕"/>
              </a:rPr>
              <a:t>Design and Verification of an AFS Frame Encoding and Clock-Bias-Absorbing PVT Testbed over Delay-Tolerant Networks for Lunar Navigation</a:t>
            </a:r>
          </a:p>
          <a:p>
            <a:pPr algn="ctr"/>
            <a:r>
              <a:rPr sz="2400" b="1">
                <a:solidFill>
                  <a:srgbClr val="E2E8F0"/>
                </a:solidFill>
                <a:latin typeface="맑은 고딕"/>
              </a:rPr>
              <a:t>홍길동* · 김항공** · 이우주***   |   *소속기관 우주항법연구실 (Space Navigation &amp; Communication System Lab.)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943600"/>
            <a:ext cx="14081760" cy="10515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5943600"/>
            <a:ext cx="14081760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1. 연구 배경 및 요약 (Abstract &amp; Motivation)</a:t>
            </a:r>
          </a:p>
          <a:p>
            <a:r>
              <a:rPr sz="1600">
                <a:solidFill>
                  <a:srgbClr val="E2E8F0"/>
                </a:solidFill>
                <a:latin typeface="맑은 고딕"/>
              </a:rPr>
              <a:t>Why LunaNet AFS over DTN/HDTN?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7132320"/>
            <a:ext cx="13533120" cy="9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100" b="1">
                <a:solidFill>
                  <a:srgbClr val="1E3A8A"/>
                </a:solidFill>
                <a:latin typeface="맑은 고딕"/>
              </a:rPr>
              <a:t>■ 연구 배경 및 필요성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달 탐사(Artemis 등) 확장에 따라 NASA는 달 표준 항법 신호인 LunaNet AFS(Augmented Forward Signal)와 우주 지연감내네트워크(DTN/HDTN) 결합을 추진 중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긴 전파 지연(Δt)과 간헐적 단절이 존재하는 DTN 환경에서 6,000-bit AFS 물리 프레임의 비트 무결성과 지연 의사거리 기반 PVT 측위 정확도를 동시에 실증할 플랫폼 필요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100" b="1">
                <a:solidFill>
                  <a:srgbClr val="1E3A8A"/>
                </a:solidFill>
                <a:latin typeface="맑은 고딕"/>
              </a:rPr>
              <a:t>■ 핵심 검증 목표 2가지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목표 1 [프레임 전송 무결성]: NASA LSIS Vol. A 표준의 6,000-bit AFS 프레임(BCH + 5G NR LDPC + 98×60 인터리빙)이 ION-DTN 및 HDTN 번들 경로를 거쳐 100% 무손실 복호되는가?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목표 2 [공통 전파 지연의 시계오차 흡수]: 네트워크 전달 지연(Δt = R - S)이 의사거리(P'ᵢ = Pᵢ + c·Δt)에 더해질 때, 가우스-뉴턴 단독측위(SPP) 해법기가 3차원 위치(x, y, z) 왜곡 없이 수신기 시계오차(dt_r)로 분리·흡수하는가?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100" b="1">
                <a:solidFill>
                  <a:srgbClr val="1E3A8A"/>
                </a:solidFill>
                <a:latin typeface="맑은 고딕"/>
              </a:rPr>
              <a:t>■ 적용 국제 표준 및 오픈소스 레퍼런스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NASA LSIS Vol. A v1.0 (2025.02) &amp; Baseline V5.0 (pp. 34–38, Figure 9, Table 12~15)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Kocabas &amp; Atalar (2003) 최소 비주기 자기상관 동기 부호 / 3GPP TS 38.212 5G NR QC-LDPC (BG2)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IS-GPS-200N (LNAV SF1~3 &amp; SF4 Page 18 Klobuchar) / u-blox ZED-F9T (UBX-20033630)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LANS-AFS-SIM, PocketSDR-AFS, RTKLIB 2.4.3 (pntpos), Radford Neal LDPC-codes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0"/>
            <a:ext cx="14081760" cy="117043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916400"/>
            <a:ext cx="14081760" cy="1051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2. 종단간 시스템 아키텍처 (System Architecture)</a:t>
            </a:r>
          </a:p>
          <a:p>
            <a:r>
              <a:rPr sz="1600">
                <a:solidFill>
                  <a:srgbClr val="E2E8F0"/>
                </a:solidFill>
                <a:latin typeface="맑은 고딕"/>
              </a:rPr>
              <a:t>Symmetric Sender &amp; Receiver Node Pipeline over ION-DTN / NASA HDTN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105120"/>
            <a:ext cx="13533120" cy="10332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100" b="1">
                <a:solidFill>
                  <a:srgbClr val="0D9488"/>
                </a:solidFill>
                <a:latin typeface="맑은 고딕"/>
              </a:rPr>
              <a:t>■ 송신 노드 (Sender Node: GNSS 수집 · 부호화 · 기준 PVT 산출)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u-blox ZED-F9T 실시간 시리얼 수집(UBX-RXM-RAWX / SFRBX) 또는 .ubx / .graw 파일 업로드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수신기 자체 NAV-PVT에 의존하지 않고 내장 RTKLIB pntpos()로 송신 Reference PVT 직접 계산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시험 시작 시각(S) 기준 가상 송신 시각 T*ᵢ = S - Pᵢ/c 산출 및 6,000-bit AFS 프레임 부호화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정답 유출 방지를 위해 원본 의사거리(Pᵢ) 및 Reference PVT는 전송 번들 페이로드에서 완전 배제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100" b="1">
                <a:solidFill>
                  <a:srgbClr val="0D9488"/>
                </a:solidFill>
                <a:latin typeface="맑은 고딕"/>
              </a:rPr>
              <a:t>■ 우주 링크 어댑터 계층 (4-Way DTN / HDTN Interoperability)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RFC 5050(BPv6) / RFC 9171(BPv7) 및 CCSDS 734.2-B-1 번들 프로토콜 적용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4가지 라우팅 조합 지원: DTN → HDTN, DTN → DTN, HDTN → DTN, HDTN → HDTN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ION SDR Heap 메모리, HDTN 파이프라인 번들 용량, TCPCL 세그먼트 크기 및 보관 정책 실시간 제어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100" b="1">
                <a:solidFill>
                  <a:srgbClr val="0D9488"/>
                </a:solidFill>
                <a:latin typeface="맑은 고딕"/>
              </a:rPr>
              <a:t>■ 수신 노드 (Receiver Node: 복호화 · 의사거리 재구성 · 사후 검증)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번들 수신 완료 시각(R) 기록 → 98×60 디인터리빙 및 5G NR LDPC / CRC-24Q 복호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복원된 T*ᵢ와 수신 시각 R로 지연 의사거리 재계산: P'ᵢ = c·(R - T*ᵢ) = Pᵢ + c·Δt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독립 RTKLIB SPP 계산 완료 후, 노드 간 관리 REST API로 Reference PVT를 조회하여 잔차 검증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077920"/>
            <a:ext cx="14081760" cy="117043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9077920"/>
            <a:ext cx="14081760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3. NASA LSIS 6,000-Bit AFS 물리 프레임 및 확장 설계</a:t>
            </a:r>
          </a:p>
          <a:p>
            <a:r>
              <a:rPr sz="1600">
                <a:solidFill>
                  <a:srgbClr val="E2E8F0"/>
                </a:solidFill>
                <a:latin typeface="맑은 고딕"/>
              </a:rPr>
              <a:t>Physical Layer FEC Pipeline &amp; LNIS-AFS-GNSS-v5 Bit Allocation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266640"/>
            <a:ext cx="13533120" cy="10332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100" b="1">
                <a:solidFill>
                  <a:srgbClr val="1E3A8A"/>
                </a:solidFill>
                <a:latin typeface="맑은 고딕"/>
              </a:rPr>
              <a:t>■ 물리 계층 프레임 구조 (6,000 Symbols = 750 Bytes / SV, 12초 주기 @ 500 sps)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SP (68 symbols): 0xCC63F74536F49E04A 고정 동기 패턴 (최소 비주기 자기상관 부호, PSL = 4)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SB1 (52 symbols): FID(2b) + TOI(7b) → MSB 1b 직결 + (51,8) Systematic BCH 부호화 (생성다항식 0x47)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SB2 (2,400 symbols): 1,176 data bits + CRC-24Q(24b) → 5G NR LDPC (BG2, Z=24) + 48b 천공 (핵심 케플러 궤도력)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SB3 &amp; SB4 (각 1,740 symbols): 각 846 data bits + CRC-24Q(24b) → 5G NR LDPC (BG2, Z=18) + 36b 천공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98 × 60 블록 인터리버: SB2+SB3+SB4(5,880 symbols)를 98열×60행 행렬에 열 방향 기록 후 행 방향 독출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100" b="1">
                <a:solidFill>
                  <a:srgbClr val="1E3A8A"/>
                </a:solidFill>
                <a:latin typeface="맑은 고딕"/>
              </a:rPr>
              <a:t>■ LNIS 측위 검증용 확장 영역 (SB3 &amp; SB4, 각 846 Data Bits)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공통 헤더 (57 bits): type(6b=63) + version(8b=5) + block(3b=3/4) + epochIndex(32b) + PRN(8b)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SB3 (보충 LNAV 459b): 조화 섭동항(Crs~Cic), TGD, 궤도경사 변화율 및 이심률(e) LSB 1-bit 잔여분 무손실 보존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SB4 (지연 관측 670b): Week(16b) + TOW(64b) + 114-bit 가상 송신 시각(T*ᵢ) + Doppler(32b) + C/N₀(8b) + Klobuchar 전리층 SF4 Page 18(240b) + 114-bit 시험 시작 시각(S)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114-Bit Femtosecond 타임스탬프: 64b Unix 초 + 50b 펨토초(10⁻¹⁵ s)로 광속 곱셈(c·Δt) 양자화 오차 완전 제거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453359" y="5943600"/>
            <a:ext cx="14081760" cy="11155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453359" y="5943600"/>
            <a:ext cx="14081760" cy="1051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4. 수학적 모델: 전파 지연 주입 및 시계오차 흡수 원리</a:t>
            </a:r>
          </a:p>
          <a:p>
            <a:r>
              <a:rPr sz="1600">
                <a:solidFill>
                  <a:srgbClr val="E2E8F0"/>
                </a:solidFill>
                <a:latin typeface="맑은 고딕"/>
              </a:rPr>
              <a:t>Dual Timestamp Separation &amp; 4-Unknown Gauss-Newton Formulation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0" y="7132320"/>
            <a:ext cx="13533120" cy="978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100" b="1">
                <a:solidFill>
                  <a:srgbClr val="0D9488"/>
                </a:solidFill>
                <a:latin typeface="맑은 고딕"/>
              </a:rPr>
              <a:t>■ 원래 위성 송신 시각(t_tx) vs. 보정 가상 송신 시각(T*ᵢ)의 이중 활용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원래 위성 송신 시각 t_tx (SB1/SB2): 위성이 신호를 방출한 원본 GNSS 시각(t₀) → RTKLIB satpos()에서 위성 3차원 좌표 (Xᵢ, Yᵢ, Zᵢ) 및 위성 시계오차(dtˢᵢ) 산출에 사용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가상 송신 시각 T*ᵢ (SB4): 송신 노드가 시험 시작 시각(S)에 합성 →  T*ᵢ = S - (Pᵢ / c)   --- (식 1)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지연 의사거리 P'ᵢ 복원: 수신 완료 시각 R(전파 지연 Δt = R - S)에서 재구성 →  P'ᵢ = c·(R - T*ᵢ) = Pᵢ + c·Δt   --- (식 2)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100" b="1">
                <a:solidFill>
                  <a:srgbClr val="0D9488"/>
                </a:solidFill>
                <a:latin typeface="맑은 고딕"/>
              </a:rPr>
              <a:t>■ 4미지수 최소자승 관측 방정식과 시계오차(dt_r) 흡수 증명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상태 벡터 x = [x, y, z, c·dt_{r,rx}]ᵀ 에 대한 비선형 관측 방정식: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  Pᵢ + c·Δt = √((Xᵢ - x)² + (Yᵢ - y)² + (Zᵢ - z)²) + c·dt_{r,rx} - c·dtˢᵢ + Iᵢ + Tᵢ + εᵢ   --- (식 3)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자코비안 설계 행렬 H ∈ R^{N×4}의 i번째 행:   Hᵢ = [ -(Xᵢ-x)/ρᵢ,  -(Yᵢ-y)/ρᵢ,  -(Zᵢ-z)/ρᵢ,  1 ]   --- (식 4)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모든 위성(i=1..N)에 동일하게 더해진 공통 거리 c·Δt는 H 행렬의 4번째 열([1, 1, ..., 1]ᵀ)과 완벽히 선형 종속!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따라서 3차원 위치 해 (x, y, z)는 왜곡 없이 보존되며, 전파 지연 Δt는 전량 수신기 시계오차로 흡수됨: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  dt_{r,rx} ≈ dt_{r,ref} + Δt   ⇒   시간 잔차 δt_{res} = (dt_{r,rx} - dt_{r,ref}) - Δt ≈ 0   --- (식 5)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453359" y="17556480"/>
            <a:ext cx="14081760" cy="1325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453359" y="17556480"/>
            <a:ext cx="14081760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5. 실험 환경 및 종단간 검증 결과 (Experimental Results)</a:t>
            </a:r>
          </a:p>
          <a:p>
            <a:r>
              <a:rPr sz="1600">
                <a:solidFill>
                  <a:srgbClr val="E2E8F0"/>
                </a:solidFill>
                <a:latin typeface="맑은 고딕"/>
              </a:rPr>
              <a:t>End-to-End Verification across GNSS_RAW, AFS_METADATA, and IQ_SAMPLE Modes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0" y="18745200"/>
            <a:ext cx="13533120" cy="118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100" b="1">
                <a:solidFill>
                  <a:srgbClr val="D97706"/>
                </a:solidFill>
                <a:latin typeface="맑은 고딕"/>
              </a:rPr>
              <a:t>■ 시험 환경 구성 (Experimental Setup)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GNSS 수신기: u-blox ZED-F9T (GPS L1 C/A 원시 의사거리·도플러 및 LNAV 300-bit 서브프레임)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네이티브 엔진: libLnisAfsCodec.so (JNA 5.17, RTKLIB 2.4.3 pntpos, LANS-AFS-SIM, PocketSDR-AFS, LDPC-codes)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RF I/Q 시험: afs_sim 90초 합성(거리 감쇠 20,200 km) → pocket_trk 20배속 비동기 상관 추적($IQOBS / $IQAFS)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100" b="1">
                <a:solidFill>
                  <a:srgbClr val="D97706"/>
                </a:solidFill>
                <a:latin typeface="맑은 고딕"/>
              </a:rPr>
              <a:t>■ 전송 모드별 복원 무결성 및 PVT 정밀도 비교 요약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Mode 1 [GNSS_RAW]: SHA-256 100% 일치 | 3D 위치 변화 &lt; 10⁻³ m | 시계오차 잔차 |δt_{res}| ≈ 0.000 s (&lt; 1 μs)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Mode 2 [AFS_METADATA v5]: 6,000-bit BCH/LDPC/CRC-24Q 100% 복원 | 3D 위치 변화 &lt; 10⁻³ m | |δt_{res}| ≈ 0.000 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Mode 3 [IQ_SAMPLE 90s]: 2 ms 상관 추적 및 $IQAFS 궤도력 자체 복원 성공 | 외부 JSON 보조 없이 연속 PVT 산출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100" b="1">
                <a:solidFill>
                  <a:srgbClr val="D97706"/>
                </a:solidFill>
                <a:latin typeface="맑은 고딕"/>
              </a:rPr>
              <a:t>■ 핵심 실험 분석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네트워크 지연 Δt로 인해 수신 의사거리 P'ᵢ가 수백만 미터(c·Δt) 증가했음에도 3D 위치 해는 송신 Reference PVT와 일치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미세한 sub-mm 위치 차이는 관측 에폭이 t₀ + Δt로 이동함에 따른 지구 자전(Sagnac 효과) 보정량 차이로 설명됨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453359" y="31272480"/>
            <a:ext cx="14081760" cy="95097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453359" y="31272480"/>
            <a:ext cx="14081760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6. 결론 및 주요 참고문헌 (Conclusion &amp; References)</a:t>
            </a:r>
          </a:p>
          <a:p>
            <a:r>
              <a:rPr sz="1600">
                <a:solidFill>
                  <a:srgbClr val="E2E8F0"/>
                </a:solidFill>
                <a:latin typeface="맑은 고딕"/>
              </a:rPr>
              <a:t>Summary of Contributions &amp; Authoritative Citations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0" y="32461200"/>
            <a:ext cx="13533120" cy="813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100" b="1">
                <a:solidFill>
                  <a:srgbClr val="1E3A8A"/>
                </a:solidFill>
                <a:latin typeface="맑은 고딕"/>
              </a:rPr>
              <a:t>■ 결론 (Conclusion)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NASA LSIS Vol. A v1.0 / V5.0 표준 6,000-bit AFS 물리 프레임과 우주 DTN/HDTN을 통합한 LNIS 검증 플랫폼 구축 완료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114-bit 펨토초 가상 송신 시각(T*ᵢ) 및 보충 LNAV(SB3)/전리층(SB4) 확장 설계를 통해 무손실 지연 측위 달성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DTN/HDTN 전파 지연(Δt)이 3차원 위치 왜곡 없이 수신기 시계오차(dt_r)로 정확히 분리·흡수됨을 수학적·실험적으로 실증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100" b="1">
                <a:solidFill>
                  <a:srgbClr val="1E3A8A"/>
                </a:solidFill>
                <a:latin typeface="맑은 고딕"/>
              </a:rPr>
              <a:t>■ 주요 참고문헌 (Selected References)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[1] NASA, LunaNet Signal-In-Space Recommended Standard - Vol. A: Augmented Forward Signal (AFS), v1.0 / V5.0 (pp. 34-38), 2025.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[2] CCSDS, CCSDS Bundle Protocol Specification, CCSDS 734.2-B-1, 2015. / IETF RFC 5050 &amp; RFC 9171.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[3] Kocabas, S. E., &amp; Atalar, A., "Binary Sequences with Low Aperiodic Autocorrelation for Synchronization," IEEE Comm. Lett., 2003.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맑은 고딕"/>
              </a:rPr>
              <a:t>   • [4] IS-GPS-200N (Section 20.3.3) / u-blox ZED-F9T Integration Manual (UBX-20033630) / RTKLIB 2.4.3 &amp; PocketSDR-AFS.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239440"/>
            <a:ext cx="28803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475569"/>
                </a:solidFill>
                <a:latin typeface="맑은 고딕"/>
              </a:rPr>
              <a:t>한국항공우주학회 학술발표회 (KSAS Conference)  |  LNIS: Lunar Navigation &amp; Delay-Tolerant Networking Integration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