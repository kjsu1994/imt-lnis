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" cy="4206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맑은 고딕"/>
              </a:rPr>
              <a:t>한국항공우주학회 학술발표회 (KSAS Conference Presentation)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달 탐사 항법신호(LunaNet AFS)의 우주 지연감내네트워크(DTN/HDTN)
전송을 위한 프레임 부호화 및 시계오차 흡수 기반 측위 검증 시스템 설계</a:t>
            </a:r>
          </a:p>
          <a:p>
            <a:pPr>
              <a:spcAft>
                <a:spcPts val="2800"/>
              </a:spcAft>
            </a:pPr>
            <a:r>
              <a:rPr sz="1500">
                <a:solidFill>
                  <a:srgbClr val="94A3B8"/>
                </a:solidFill>
                <a:latin typeface="맑은 고딕"/>
              </a:rPr>
              <a:t>Design and Verification of an AFS Frame Encoding and Clock-Bias-Absorbing PVT Testbed
over Delay-Tolerant Networks for Lunar Navigation</a:t>
            </a:r>
          </a:p>
          <a:p>
            <a:r>
              <a:rPr sz="1400">
                <a:solidFill>
                  <a:srgbClr val="E2E8F0"/>
                </a:solidFill>
                <a:latin typeface="맑은 고딕"/>
              </a:rPr>
              <a:t>발표자: 홍길동  |  공동저자: 김항공, 이우주
소속: 우주항법연구실 (Space Navigation &amp; Communication System Lab.)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1. 연구 배경 및 목표 (Motivation &amp; Objectives)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NASA LunaNet AFS 표준과 우주 지연감내네트워크(DTN/HDTN) 통합 검증의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2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🌌 연구 배경 (Lunar PNT &amp; Space Internet)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아르테미스(Artemis) 등 달 탐사 임무 확대로 달 궤도/표면 전용 항법·통신 인프라 표준화 진행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NASA LSIS (LunaNet Signal-In-Space) Vol. A v1.0 / V5.0: 달 증강 순방향 항법 신호(AFS) 물리 프레임 표준 제정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우주 링크 특성: 장거리 전파 지연(Δt), 천체 가림(Occultation)에 의한 간헐적 단절 발생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CCSDS / RFC 기반 DTN(ION-DTN) 및 고속 파이프라인 NASA HDTN 번들 프로토콜 도입 필수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🎯 핵심 연구 질문 및 검증 목표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과제 1 [물리 프레임 전송 무결성]: NASA LSIS 6,000-bit AFS 프레임(BCH + 5G NR LDPC + 98×60 인터리빙)이 이기종 DTN/HDTN 번들 파이프라인을 거쳐 무손실 복원되는가?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과제 2 [지연 의사거리 시계오차 흡수]: 네트워크 전달 지연(Δt = R - S)이 의사거리(P'ᵢ = Pᵢ + c·Δt)에 반영될 때, 단독측위(SPP) 해법기가 이를 3차원 위치 왜곡 없이 수신기 시계오차(dt_r)로 분리·흡수하는가?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해결책: 실제 ZED-F9T 수신기 + 표준 C/C++ 코덱 + RTKLIB 기반 종단간(End-to-End) 실증 플랫폼 LNIS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2. 적용 국제 표준 및 오픈소스 근거 (Standards &amp; References)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NASA 공식 기술 표준 문서 및 검증된 항공우주·위성항법 오픈소스 기반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3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6576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📘 NASA LSIS AFS 표준 근거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NASA LSIS Vol. A v1.0 (2025.02) 및 Baseline V5.0 상세 규격 (pp. 34–38)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SP (68 bits): Table 12 고정 동기 패턴 (0xCC63F74536F49E04A), Kocabas &amp; Atalar (2003) 최소 비주기 자기상관 부호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SB1 (52 bits): Section 3.3 (51,8) Systematic BCH 부호화 (생성다항식 107_8)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SB2~SB4 (5,880 bits): CRC-24Q + 3GPP TS 38.212 5G NR QC-LDPC (BG2) + 98×60 블록 인터리버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234440"/>
            <a:ext cx="36576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🛰️ GNSS &amp; RTKLIB 측위 근거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IS-GPS-200N (Section 20.3.3): GPS L1 C/A LNAV 300-bit 서브프레임 1~3 궤도력 및 SF4 Page 18 Klobuchar 전리층 모델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u-blox ZED-F9T-10B Manual (UBX-20033630): UBX-RXM-RAWX 및 UBX-RXM-SFRBX 원시 패킷 파싱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RTKLIB 2.4.3 (pntpos.c / ephemeris.c): 가우스-뉴턴 반복 최소자승법 4미지수 (x, y, z, c·dt_r) SPP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34440"/>
            <a:ext cx="36576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맑은 고딕"/>
              </a:rPr>
              <a:t>🌐 오픈소스 코덱 &amp; 우주 DTN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LANS-AFS-SIM (T. Ebinuma, 2025): AFS 프레임 부호화, Weil PRN(10,230 chips), 90초 RF I/Q 합성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PocketSDR-AFS (T. Takasu &amp; T. Ebinuma): 비동기 RF 상관 추적(pocket_trk) 및 LDPC 복호화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LDPC-codes (R. M. Neal): 희소행렬 확률 전파(Belief Propagation) 복호기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NASA ION-DTN &amp; HDTN: RFC 5050 / 9171, CCSDS 734.2-B-1 번들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3. LNIS 종단간 시스템 아키텍처 (System Architecture)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송신 노드(Sender) ↔ DTN/HDTN 우주 링크 어댑터 ↔ 수신 노드(Receiver) 분리형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4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4747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① 송신 노드 (Sender Node)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ZED-F9T 실시간 COM 수집 또는 .ubx / .graw 파일 입력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원시 관측값으로 송신 Reference PVT 산출 (장비 자체 NAV-PVT 미사용)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시험 모드별 부호화 수행: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1) GNSS_RAW: 가상 송신 시각 T*ᵢ 변환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2) AFS_METADATA: 위성별 6,000-bit AFS 프레임 생성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3) IQ_SAMPLE: 90초 RF I/Q 이진 파일 합성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원본 의사거리 및 Reference PVT는 전송 번들에서 완전 제외 (정답 유출 방지)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234440"/>
            <a:ext cx="3840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맑은 고딕"/>
              </a:rPr>
              <a:t>② DTN / HDTN 우주 링크 계층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4가지 이기종 어댑터 경로 조합 지원: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DTN(ION) → HDTN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DTN(ION) → DTN(ION)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HDTN → DTN(ION)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HDTN → HDTN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SDR 힙 크기, 파이프라인 번들 용량, TCPCL 세그먼트, 스토리지 삭제 정책 동적 제어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시험 시작 시각(S)부터 수신 완료 시각(R)까지의 실제 네트워크 전파 지연 Δt = R - S 측정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234440"/>
            <a:ext cx="34747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③ 수신 노드 (Receiver Node)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번들 도착 즉시 SHA-256 및 프레임 무결성 검증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AFS 98×60 디인터리빙 → 5G NR LDPC 복호 → CRC-24Q 검증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도착 시각 R과 복원된 T*ᵢ로 지연 의사거리 재계산: P'ᵢ = c·(R - T*ᵢ) = Pᵢ + c·Δt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네이티브 RTKLIB pntpos() 호출하여 수신 PVT 산출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계산 완료 후 송신 노드에 REST로 Reference PVT를 조회하여 위치 오차 및 시계오차 잔차 대조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4. NASA LSIS 6,000-Bit AFS 물리 프레임 구조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NASA LSIS Vol. A v1.0 / V5.0 (pp. 34–38) 기반 부호화 및 98×60 블록 인터리빙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5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7295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📐 물리 프레임 파이프라인 (총 6,000 Symbols = 750 Bytes, 500 sps 기준 12초 주기)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[비인터리빙 헤더 120 symbols] = SP (68 symbols, 0xCC63F74536F49E04A) + SB1 (52 symbols, FID 2b + TOI 7b → MSB 1b 직결 + (51,8) BCH 51b)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[블록 인터리빙 페이로드 5,880 symbols] = SB2 (2,400 sym) + SB3 (1,740 sym) + SB4 (1,740 sym) → 98열 × 60행 행렬(열 방향 쓰기, 행 방향 읽기)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최종 전송 비트열: [ SP (68) ][ SB1 (52) ][ 98×60 Interleaved SB2 · SB3 · SB4 (5,880) ] = 6,000 bits / satellite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20440"/>
            <a:ext cx="5486400" cy="2651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🔍 왜 SP는 모든 위성이 동일한 68-bit(0xCC63..E04A)인가?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CDMA 의사난수 확산 코드(Weil 10,230 chips)로 위성 간 채널 분리는 이미 완료됨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SP는 시간 영역에서 6,000-bit 프레임의 시작 경계(Bit 0)와 위상 반전(±1)을 찾는 프리앰블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Kocabas &amp; Atalar(2003) 최소 비주기 자기상관 부호(PSL = 4)를 사용하여 메인 피크(+68) 대비 부엽을 17:1로 억제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20440"/>
            <a:ext cx="5486400" cy="2651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맑은 고딕"/>
              </a:rPr>
              <a:t>⏱️ 왜 위성 시각은 Week · ITOW · TOI 3단계로 나뉘는가?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12초마다 30비트 전체 시각을 보내는 대신 계층적 분할로 대역폭 절약: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SB1 (12초 주기): TOI (7 bits, 0~99 카운터, 12초 단위 증가)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SB2 (2시간 주기): Week (13 bits) + ITOW (8 bits, 2시간=7,200초 단위 구간)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결합 공식: TOW (초) = ITOW × 7,200 + TOI ×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5. 측위 검증용 확장 서브프레임 설계 (LNIS-AFS-GNSS-v5)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SB3(보충 LNAV 궤도력) 및 SB4(114-bit 펨토초 가상 송신 시각 + 전리층 모델) 비트 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6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📦 SB3 (846 Data Bits): 무손실 LNAV 보충 항법정보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공통 헤더 (57 bits): type(6b=63) + version(8b=5) + block(3b=3) + epochIndex(32b) + PRN(8b)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항법 존재 플래그 (1 bit): hasNavigation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보충 GPS LNAV 파라미터 (459 bits):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SB2 양자화 시 생략되는 조화 섭동 보정항 (Crs, Crc, Cus, Cuc, Cis, Cic)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군지연(TGD), 궤도 경사각 변화율(i_dot, Ω_dot), 평균운동 보정(Δn)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• GPS 이심률(2⁻³³)과 AFS SB2 이심률(2⁻³²) 스케일 차이에 따른 LSB 1-bit 잔여분 완벽 보존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미사용 패딩 (329 bits): 교대 패턴 010101... 채움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⚡ SB4 (846 Data Bits): 114-Bit 가상 송신 시각 &amp; 전리층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공통 헤더 (57 bits) + 관측 순서(8b) + Week(16b) + TOW(64b double)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가상 송신 시각 T*ᵢ (114 bits): Unix 정수 초(64b) + 초 미만 Femtosecond(50b, 10⁻¹⁵ s)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관측 품질 (48 bits): Doppler(32b float) + C/N₀(8b) + 추적 상태(8b)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전리층 보정 (249 bits): 존재 플래그(1b) + PRN(8b) + LNAV SF4 Page 18 Klobuchar 8계수(240b)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시험 시작 시각 S (114 bits): Unix 정수 초(64b) + Femtosecond(50b)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핵심 의의: 빛은 1 ns에 0.3 m 이동 → 114-bit 펨토초 표현으로 의사거리 양자화 오차를 0으로 제거!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6. 수학적 모델: 전파 지연 주입 및 수신기 시계오차 흡수 원리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원래 위성 송신 시각(SB1/SB2)과 가상 지연 송신 시각(SB4)의 이중 활용 및 4미지수 방정식 증명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7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🧭 두 가지 송신 시각의 엄격한 역할 분리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1) 원래 위성 송신 시각 t_tx (SB1/SB2 수록):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 • 위성이 실제로 신호를 쏜 GNSS 시각 (t₀)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 • RTKLIB satpos()에서 케플러 궤도 방정식을 풀어 위성의 3차원 위치 (Xᵢ, Yᵢ, Zᵢ)와 위성 시계오차(dtˢᵢ)를 계산하는 데 사용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2) 보정 가상 송신 시각 T*ᵢ (SB4 수록):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 • 송신 노드가 시험 시작 시각(S)에 생성:  T*ᵢ = S - (Pᵢ / c)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 • 수신 노드가 도착 시각(R, Δt = R - S)에 지연 의사거리 복원: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   P'ᵢ = c · (R - T*ᵢ) = c · (R - S + Pᵢ/c) = Pᵢ + c·Δt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📐 4미지수 연립방정식과 시계오차(dt_r) 흡수 증명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N개 위성(N ≥ 4)에 대한 가우스-뉴턴 관측 방정식: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  Pᵢ + c·Δt = √((Xᵢ-x)² + (Yᵢ-y)² + (Zᵢ-z)²) + c·dt_{r,rx} - c·dtˢᵢ + Iᵢ + Tᵢ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자코비안 행렬 H의 i번째 행:  Hᵢ = [ -eᵢₓ,  -eᵢᵧ,  -eᵢ₂,  1 ]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모든 위성에 동일하게 더해진 c·Δt는 H 행렬의 4번째 열(모든 원소가 1)과 100% 선형 종속!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결과 1: 3차원 위치 해 (x, y, z)는 기하학적 시선각이 불변이므로 원본 위치 그대로 유지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결과 2: 공통 지연 Δt는 전량 수신기 시계오차로 흡수 → dt_{r,rx} = dt_{r,ref} + Δt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검증 지표 (Time Residual):  δt_{res} = (dt_{r,rx} - dt_{r,ref}) - Δt ≈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7. 네이티브 PVT 계산 흐름 및 90초 RF I/Q 신호 추적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Java(Spring Boot) ↔ JNA ↔ C/C++ Native Codec (libLnisAfsCodec.so) 연동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8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⚙️ NativePvtCodec &amp; lnis_pvt.c 실행 단계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Step 1: 입력 레코드(NavigationUpdate / ObservationEpoch) 시간순 순회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Step 2: LNAV 10-word 서브프레임을 decode_frame()으로 파싱하여 RTKLIB nav_t(eph_t 및 Klobuchar ion_gps[8]) 누적 갱신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Step 3: GPS week rollover 보정 및 유효 궤도력(satpos) 보유 위성 선별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Step 4: RTKLIB pntpos() 호출 → 가우스-뉴턴 반복 최소자승법으로 ECEF 위치(m), 속도(m/s), 수신기 시계오차(dt_r) 산출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Step 5: 측위 해 유효성(positionValid, velocityValid) 및 사용 위성 수 반환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맑은 고딕"/>
              </a:rPr>
              <a:t>📻 IQ_SAMPLE 모드: 90초 RF 합성 및 비동기 추적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송신 측 (afs_sim): 관측된 위성별 6,000-bit AFS 프레임을 Weil PRN 코드로 확산·변조하여 90초 분량 RF 베이스밴드 I/Q 이진 파일 생성 (거리 감쇠 20,200 km 적용)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수신 측 (pocket_trk): 20배속 고속 파일 재생(06-file-replay.patch 동기화 적용) 및 2 ms 상관 추적 수행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복호 성공 채널에서 $IQAFS(복원된 SB2/SB3/SB4 비트)와 $IQOBS(추적 의사거리·도플러) 추출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외부 JSON 항법 보조 없이 RF 신호 자체에서 복원한 궤도력과 의사거리만으로 지구 PVT 계산 성공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8. 실험 검증 결과 (Experimental Verification Results)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3대 시험 모드(GNSS_RAW, AFS_METADATA, IQ_SAMPLE) 종단간 복원 무결성 및 PVT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9 /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834640"/>
                <a:gridCol w="3047695"/>
                <a:gridCol w="2834640"/>
              </a:tblGrid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Verification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Mode 1: GNSS_RAW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Mode 2: AFS_METADATA (v5)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Mode 3: IQ_SAMPLE (90s RF)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전송 데이터 단위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JSON (LNIS-DELAY-RAW-v2)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6,000-bit AFS 물리 프레임 (750 B/SV)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90초 RF Baseband I/Q BIN + Manifest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부호 복원 / 무결성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SHA-256 일치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BCH + 5G NR LDPC + CRC-24Q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상관 추적 Lock + $IQAFS CRC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의사거리 반영 수식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P'ᵢ = Pᵢ + c·Δt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P'ᵢ = c·(R - T*ᵢ) = Pᵢ + c·Δt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RF 코드 위상 상관 추적 ($IQOBS)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3D 위치 해 차이 (|Δr|)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&lt; 10⁻³ m (왜곡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&lt; 10⁻³ m (왜곡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수 미터 이내 (RF 열잡음 σ 반영)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수신기 시계오차 (dt_{r,rx})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dt_{r,ref} + Δt (전량 흡수)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dt_{r,ref} + Δt (전량 흡수)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추적 샘플 에폭 기준 시계오차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시계오차 시간 잔차 (|δt_{res}|)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≈ 0.000 s (&lt; 1 μs)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≈ 0.000 s (&lt; 1 μs)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맑은 고딕"/>
                        </a:rPr>
                        <a:t>해당 없음 (비지연 RF 추적 시험)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9488"/>
                          </a:solidFill>
                          <a:latin typeface="맑은 고딕"/>
                        </a:rPr>
                        <a:t>최종 검증 판정 (Verdict)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9488"/>
                          </a:solidFill>
                          <a:latin typeface="맑은 고딕"/>
                        </a:rPr>
                        <a:t>PASS / MEASURED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9488"/>
                          </a:solidFill>
                          <a:latin typeface="맑은 고딕"/>
                        </a:rPr>
                        <a:t>PASS / MEASURED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D9488"/>
                          </a:solidFill>
                          <a:latin typeface="맑은 고딕"/>
                        </a:rPr>
                        <a:t>PASS / MEASURED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257800"/>
            <a:ext cx="1127729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✅ 실험 핵심 결론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네트워크 전파 지연 Δt로 인해 의사거리가 수백만 미터(c·Δt) 증가하더라도, 3차원 ECEF 위치 좌표는 흔들리지 않고 수신기 시계오차(dt_r)로 100% 흡수됨을 실증!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9. 결론 및 향후 연구 계획 (Conclusion &amp; Future Work)</a:t>
            </a:r>
          </a:p>
          <a:p>
            <a:r>
              <a:rPr sz="1200">
                <a:solidFill>
                  <a:srgbClr val="94A3B8"/>
                </a:solidFill>
                <a:latin typeface="맑은 고딕"/>
              </a:rPr>
              <a:t>달 탐사 항법·통신 통합 검증 플랫폼 구현 요약 및 확장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맑은 고딕"/>
              </a:rPr>
              <a:t>한국항공우주학회 학술발표회 (KSAS)  |  LNIS: Lunar Navigation &amp; DTN Integration System  |  10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맑은 고딕"/>
              </a:rPr>
              <a:t>📌 연구 요약 및 학술적·기술적 기여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NASA LSIS Vol. A v1.0 / V5.0 표준 기반 6,000-bit AFS 물리 프레임과 우주 DTN/HDTN을 결합한 종단간 검증 테스트베드(LNIS) 독자 구축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SB3(보충 LNAV 궤도력) 및 SB4(114-bit 펨토초 가상 송신 시각 + Klobuchar 전리층) 확장 설계를 통해 양자화 손실 없는 지연 측위 파이프라인 완성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공통 네트워크 전파 지연(c·Δt)이 가우스-뉴턴 최소자승 해법기에서 3차원 위치 왜곡 없이 수신기 시계오차(dt_r)로 분리·흡수됨을 수학적·실험적으로 규명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GNSS_RAW, AFS_METADATA, IQ_SAMPLE 3대 모드 및 4가지 DTN/HDTN 라우팅 경로 전체에서 완전한 복호 무결성 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D9488"/>
                </a:solidFill>
                <a:latin typeface="맑은 고딕"/>
              </a:rPr>
              <a:t>🚀 향후 연구 및 확장 계획 (Future Work)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다중 위성군(Multi-GNSS: GPS, Galileo, BeiDou) 동시 결합 측위 및 위성군 간 시스템 시간 오프셋(ISB) 분리 검증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달 궤도선(LRO/Relay Satellite) 실제 케플러 궤도력 및 달 표면 좌표계(LPA / ME Frame) 기반 달 현지 PVT 계산기 확장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장시간 우주 링크 단절(Disruption) 및 다중 홉(Multi-hop) DTN 수탁 전송(Custody Transfer) 시나리오에서의 연속 항법 성능 평가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0F172A"/>
                </a:solidFill>
                <a:latin typeface="맑은 고딕"/>
              </a:rPr>
              <a:t>• 감사합니다. (Q &amp; 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