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7315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  <a:latin typeface="Malgun Gothic"/>
              </a:defRPr>
            </a:pPr>
            <a:r>
              <a:t>LNIS (Lunar Navigation Information System) 지상 시험베드 종합 기술 보고</a:t>
            </a:r>
          </a:p>
          <a:p>
            <a:pPr>
              <a:spcAft>
                <a:spcPts val="1600"/>
              </a:spcAft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UBX 원시 데이터 수신부터 AFS 프레임 조립,</a:t>
            </a:r>
            <a:br/>
            <a:r>
              <a:t>우주 통신 지연 에뮬레이션 및 PVT 연산까지의 전주기 메커니즘</a:t>
            </a:r>
          </a:p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데이터 원자화(Atomization) · 비트 매핑(SB1~SB4) · 100% 무손실 복원 · 우주 통신(DTN) 및 달 환경 적응성 분석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212080"/>
            <a:ext cx="10362895" cy="91440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534924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E8F0"/>
                </a:solidFill>
                <a:latin typeface="Malgun Gothic"/>
              </a:defRPr>
            </a:pPr>
            <a:r>
              <a:t>핵심 요약: NASA LSIS Vol-A 규격 100% 준수 · 6요소 오픈소스 결함 극복(100m → 1mm 이하) · 1.3초 달 전파 지연 보정 · QZSS 즉시 연동 및 Multi-GNSS 확장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전체 데이터 처리 파이프라인 (End-to-End Pipeline)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0116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201168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01. 원시 수집</a:t>
            </a:r>
          </a:p>
          <a:p>
            <a:pPr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UBX / COM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u-blox ZED-F9T 수신기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RAWX: 의사거리/도플러/CNo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SFRBX: LNAV 10-word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실시간 수집 및 파일 로드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417320"/>
            <a:ext cx="20116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07792" y="1417320"/>
            <a:ext cx="2011680" cy="73152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152704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Malgun Gothic"/>
              </a:defRPr>
            </a:pPr>
            <a:r>
              <a:t>02. 내부 표준화</a:t>
            </a:r>
          </a:p>
          <a:p>
            <a:pPr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UbloxParser / GRAW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286000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Checksum 무결성 검증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ObservationEpoch 구성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NavigationUpdate 분리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LGRW Canonical 저장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417320"/>
            <a:ext cx="20116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84064" y="1417320"/>
            <a:ext cx="2011680" cy="7315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21224" y="152704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Malgun Gothic"/>
              </a:defRPr>
            </a:pPr>
            <a:r>
              <a:t>03. 프레임 조립</a:t>
            </a:r>
          </a:p>
          <a:p>
            <a:pPr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NASA AFS 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2286000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패리티 제거 및 비트 원자화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SB1: FID=0, TOI 식별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SB2: 케플러 10요소 262b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SB3: LNAV 잔여 459b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SB4: 관측값+지연+전리층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417320"/>
            <a:ext cx="20116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60336" y="1417320"/>
            <a:ext cx="2011680" cy="731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97496" y="152704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Malgun Gothic"/>
              </a:defRPr>
            </a:pPr>
            <a:r>
              <a:t>04. 우주 전송</a:t>
            </a:r>
          </a:p>
          <a:p>
            <a:pPr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DTN &amp; Delay Emul.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496" y="2286000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달-지구 1.3초 전파 지연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가상 송신시각(T*i) 주입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DTN BPv7 무선 번들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달 뒷면 차폐 저장-전달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1417320"/>
            <a:ext cx="20116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436608" y="1417320"/>
            <a:ext cx="201168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73768" y="152704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05. 항법 연산</a:t>
            </a:r>
          </a:p>
          <a:p>
            <a:pPr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RTKLIB PVT Solver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2286000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LNAV 720b 100% 무손실 복원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케플러 위성 위치 계산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이온층/시계 오차 보정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최소자승법(LSQ) PVT 산출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6235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설계 철학: 수신 계층(UBX) - 프레임 계층(AFS) - 전송 계층(DTN) - 계산 계층(RTKLIB)이 완벽히 독립적으로 모듈화되어, 데이터 무결성 보존과 멀티-GNSS 확장을 동시에 달성함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STAGE 01 : DATA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수신 계층: UBX 원시 관측값(RAWX) 및 방송 항법 메시지(SFRBX) 구조 명세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1. UBX-RXM-RAWX (원시 다중 관측값 데이터)</a:t>
            </a:r>
          </a:p>
          <a:p>
            <a:pPr>
              <a:spcAft>
                <a:spcPts val="1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관측 시각 (GPS Week 2438, TOW 201724.989 s)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동일 에포크(Epoch)에 수신된 다중 위성의 관측값을 단일 번들로 동기화</a:t>
            </a:r>
            <a:br/>
            <a:r>
              <a:t>• 선행 수신된 항법 메시지(SFRBX)의 기준 에포크 시각과 정밀 정합</a:t>
            </a:r>
          </a:p>
          <a:p>
            <a:pPr>
              <a:spcAft>
                <a:spcPts val="1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위성·신호 식별 (GPS · G04 · L1 C/A)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관측값을 해당 PRN 위성의 방송 궤도력(Ephemeris)과 바인딩</a:t>
            </a:r>
            <a:br/>
            <a:r>
              <a:t>• 멀티-GNSS 확장 시 위성군 및 주파수 대역 구분 키(Key)로 동작</a:t>
            </a:r>
          </a:p>
          <a:p>
            <a:pPr>
              <a:spcAft>
                <a:spcPts val="1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의사거리 계측 (20,886,574.963 m)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기준(Reference) PVT 연산의 핵심 거리 관측치로 투입</a:t>
            </a:r>
            <a:br/>
            <a:r>
              <a:t>• RAW·AFS 지연 시험 시 펨토초 정밀도 가상 송신시각(T*i)으로 변환 캡슐화</a:t>
            </a:r>
          </a:p>
          <a:p>
            <a:pPr>
              <a:spcAft>
                <a:spcPts val="1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반송파 도플러 주파수 편이 (+3,712.078 Hz)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위성의 시선 속도(LOS) 계측을 통한 수신기 3차원 이동 속도 산출</a:t>
            </a:r>
            <a:br/>
            <a:r>
              <a:t>• 우주 통신 지연 시험 전 구간에서 물리적 주파수 연속성 유지</a:t>
            </a:r>
          </a:p>
          <a:p>
            <a:pPr>
              <a:spcAft>
                <a:spcPts val="1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신호 품질 C/N0 (27 dB-Hz) &amp; 유효성(prValid=1)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반송파 대 잡음비 기반 PVT 가중최소자승법(WLS) 가중치 행렬 구성</a:t>
            </a:r>
            <a:br/>
            <a:r>
              <a:t>• 수신기 상관기 락 상태 검증을 통과한 유효 관측값만 선별 투입</a:t>
            </a:r>
          </a:p>
          <a:p>
            <a:pPr>
              <a:spcAft>
                <a:spcPts val="1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반송파 위상 및 추적 시간 (109.7M cyc, 52.520 s)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반송파 누적 위상 및 잠금 유지 시간 기록 (수신 원시기록 보존)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D9488"/>
                </a:solidFill>
                <a:latin typeface="Malgun Gothic"/>
              </a:defRPr>
            </a:pPr>
            <a:r>
              <a:t>2. UBX-RXM-SFRBX (위성 방송 항법 메시지)</a:t>
            </a:r>
          </a:p>
          <a:p>
            <a:pPr>
              <a:spcAft>
                <a:spcPts val="1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메시지 단위 구조 (서브프레임당 10 Words, 40 Bytes)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위성이 자체 방송한 LNAV 원시 비트열 (워드당 30-bit LNAV 구조)</a:t>
            </a:r>
            <a:br/>
            <a:r>
              <a:t>• 상위 2b 패딩 및 6b 패리티 제거 후 순수 24b 원자화 (240b/서브프레임)</a:t>
            </a:r>
          </a:p>
          <a:p>
            <a:pPr>
              <a:spcAft>
                <a:spcPts val="1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SF1 (Subframe 1) - 시계 보정 및 건전성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원자시계 보정 계수(af0, af1, af2), 위성 상태(Health), IODC</a:t>
            </a:r>
            <a:br/>
            <a:r>
              <a:t>• L1/L2 하드웨어 전송 군지연차(TGD, Group Delay)</a:t>
            </a:r>
          </a:p>
          <a:p>
            <a:pPr>
              <a:spcAft>
                <a:spcPts val="1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SF2 (Subframe 2) - 궤도력 상반부 및 조화 섭동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궤도 기준시(toe), 궤도 크기(√a), 형상(e), 평균근점각(M0)</a:t>
            </a:r>
            <a:br/>
            <a:r>
              <a:t>• 궤도 반경/위도 조화 섭동(Crs, Cuc, Cus) 및 평균운동량 보정(Δn)</a:t>
            </a:r>
          </a:p>
          <a:p>
            <a:pPr>
              <a:spcAft>
                <a:spcPts val="1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SF3 (Subframe 3) - 궤도력 하반부 및 궤도 변화율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궤도면 경사각(i0), 승교점 적경(Ω0), 근지점 인수(ω)</a:t>
            </a:r>
            <a:br/>
            <a:r>
              <a:t>• 경사각/반경 조화 섭동(Cic, Cis, Crc), 세차율(Ω_dot), 경사각변화율(IDOT)</a:t>
            </a:r>
          </a:p>
          <a:p>
            <a:pPr>
              <a:spcAft>
                <a:spcPts val="1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SF4 (Subframe 4, Page 18) - 대기권 보정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Klobuchar 전리층 모델 계수 (Alpha 4개, Beta 4개 파라미터)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DATA PROCESSING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왜 원시 데이터를 가공·원자화(Atomization)해야 하는가?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47472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Malgun Gothic"/>
              </a:defRPr>
            </a:pPr>
            <a:r>
              <a:t>1. 패리티 비트 제거 (Parity Stripping)</a:t>
            </a:r>
          </a:p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대역폭 낭비 방지 및 순수 정보 추출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수신 형태: UBX-SFRBX는 워드당 30비트 (24비트 데이터 + 6비트 패리티 Hamming 코드) 수록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가공 이유: 수신기 칩셋이 이미 패리티 검증을 완료하였으므로, 6비트 패리티를 그대로 무선 전송하면 20%의 심우주 대역폭이 낭비됨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처리 방식: (w &gt;&gt;&gt; 6) &amp; 0xFFFFFF 비트 연산을 통해 순수 24비트 정보 비트만 원자화 추출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복구 보장: 수신단은 순수 24비트 데이터로부터 RTKLIB 표준 항법 워드를 100% 동일하게 복원 가능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3474720" cy="6858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  <a:latin typeface="Malgun Gothic"/>
              </a:defRPr>
            </a:pPr>
            <a:r>
              <a:t>2. 720비트 LNAV 버퍼 구성</a:t>
            </a:r>
          </a:p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에폭별 비동기 수신 데이터의 완결성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402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수신 형태: 위성은 12초 주기로 SF1, SF2, SF3을 순차적으로 쪼개어 방송함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가공 이유: 궤도를 완벽히 계산하려면 SF1(시계), SF2(궤도 상반부), SF3(궤도 하반부)가 모두 일치하는 동일 세대(Coherent) 데이터여야 함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처리 방식: IODE(Ephemeris Issue)를 검사하여 3개 서브프레임(240b × 3 = 720b)이 완전히 정합될 때만 AFS 프레임 매핑으로 전달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복구 보장: 불완전한 파편 전송을 원천 차단하여 측위 실패율을 0%로 제거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41732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80" y="1417320"/>
            <a:ext cx="3474720" cy="6858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7C3AED"/>
                </a:solidFill>
                <a:latin typeface="Malgun Gothic"/>
              </a:defRPr>
            </a:pPr>
            <a:r>
              <a:t>3. 의사거리의 가상 송신시각(T*i) 치환</a:t>
            </a:r>
          </a:p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우주 전파 지연(1.3초) 에뮬레이션 정밀화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2402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수신 형태: u-blox는 지상 기준 실측 의사거리(약 20,000 km)만을 출력함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가공 이유: 지상 시험베드 LAN 환경에서는 우주 전파 지연(1.3초)을 물리적으로 발생시킬 수 없음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처리 방식: T*i = Trx - (ρ / c) 식을 통해 지상 수신 시각과 의사거리로부터 위성 송신 시각을 50-bit 펨토초(10⁻¹⁵s) 정밀도로 분해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복구 보장: 수신단에서 지연된 도착 시각 T'rx와 T*i를 역산하여 1mm 오차 없는 의사거리 완전 재생성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66349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rPr dirty="0" err="1"/>
              <a:t>원자화</a:t>
            </a:r>
            <a:r>
              <a:rPr dirty="0"/>
              <a:t>(Atomization)의 </a:t>
            </a:r>
            <a:r>
              <a:rPr dirty="0" err="1"/>
              <a:t>기술적</a:t>
            </a:r>
            <a:r>
              <a:rPr dirty="0"/>
              <a:t> </a:t>
            </a:r>
            <a:r>
              <a:rPr dirty="0" err="1"/>
              <a:t>본질</a:t>
            </a:r>
            <a:r>
              <a:rPr dirty="0"/>
              <a:t>: </a:t>
            </a:r>
            <a:r>
              <a:rPr dirty="0" err="1"/>
              <a:t>원시</a:t>
            </a:r>
            <a:r>
              <a:rPr dirty="0"/>
              <a:t> </a:t>
            </a:r>
            <a:r>
              <a:rPr dirty="0" err="1"/>
              <a:t>수신기의</a:t>
            </a:r>
            <a:r>
              <a:rPr dirty="0"/>
              <a:t> </a:t>
            </a:r>
            <a:r>
              <a:rPr dirty="0" err="1"/>
              <a:t>불필요한</a:t>
            </a:r>
            <a:r>
              <a:rPr dirty="0"/>
              <a:t> </a:t>
            </a:r>
            <a:r>
              <a:rPr dirty="0" err="1"/>
              <a:t>패딩</a:t>
            </a:r>
            <a:r>
              <a:rPr dirty="0"/>
              <a:t>/</a:t>
            </a:r>
            <a:r>
              <a:rPr dirty="0" err="1"/>
              <a:t>패리티</a:t>
            </a:r>
            <a:r>
              <a:rPr dirty="0"/>
              <a:t>/</a:t>
            </a:r>
            <a:r>
              <a:rPr dirty="0" err="1"/>
              <a:t>하드웨어</a:t>
            </a:r>
            <a:r>
              <a:rPr dirty="0"/>
              <a:t> </a:t>
            </a:r>
            <a:r>
              <a:rPr dirty="0" err="1"/>
              <a:t>종속</a:t>
            </a:r>
            <a:r>
              <a:rPr dirty="0"/>
              <a:t> </a:t>
            </a:r>
            <a:r>
              <a:rPr dirty="0" err="1"/>
              <a:t>포맷을</a:t>
            </a:r>
            <a:r>
              <a:rPr dirty="0"/>
              <a:t> '</a:t>
            </a:r>
            <a:r>
              <a:rPr dirty="0" err="1"/>
              <a:t>수학적</a:t>
            </a:r>
            <a:r>
              <a:rPr dirty="0"/>
              <a:t> </a:t>
            </a:r>
            <a:r>
              <a:rPr dirty="0" err="1"/>
              <a:t>순수</a:t>
            </a:r>
            <a:r>
              <a:rPr dirty="0"/>
              <a:t> </a:t>
            </a:r>
            <a:r>
              <a:rPr dirty="0" err="1"/>
              <a:t>비트열'로</a:t>
            </a:r>
            <a:r>
              <a:rPr dirty="0"/>
              <a:t> </a:t>
            </a:r>
            <a:r>
              <a:rPr dirty="0" err="1"/>
              <a:t>분해하여</a:t>
            </a:r>
            <a:r>
              <a:rPr dirty="0"/>
              <a:t>, NASA </a:t>
            </a:r>
            <a:r>
              <a:rPr dirty="0" err="1"/>
              <a:t>무선</a:t>
            </a:r>
            <a:r>
              <a:rPr dirty="0"/>
              <a:t> </a:t>
            </a:r>
            <a:r>
              <a:rPr dirty="0" err="1"/>
              <a:t>규격</a:t>
            </a:r>
            <a:r>
              <a:rPr dirty="0"/>
              <a:t> </a:t>
            </a:r>
            <a:r>
              <a:rPr dirty="0" err="1"/>
              <a:t>슬롯에</a:t>
            </a:r>
            <a:r>
              <a:rPr dirty="0"/>
              <a:t> </a:t>
            </a:r>
            <a:r>
              <a:rPr dirty="0" err="1"/>
              <a:t>낭비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1:1 </a:t>
            </a:r>
            <a:r>
              <a:rPr dirty="0" err="1" smtClean="0"/>
              <a:t>패키징하고</a:t>
            </a:r>
            <a:endParaRPr lang="en-US" dirty="0" smtClean="0"/>
          </a:p>
          <a:p>
            <a:pPr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rPr dirty="0" smtClean="0"/>
              <a:t> </a:t>
            </a:r>
            <a:r>
              <a:rPr dirty="0" err="1"/>
              <a:t>수신단에서</a:t>
            </a:r>
            <a:r>
              <a:rPr dirty="0"/>
              <a:t> </a:t>
            </a:r>
            <a:r>
              <a:rPr dirty="0" err="1"/>
              <a:t>오차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</a:t>
            </a:r>
            <a:r>
              <a:rPr dirty="0" err="1"/>
              <a:t>복원할</a:t>
            </a:r>
            <a:r>
              <a:rPr dirty="0"/>
              <a:t> 수 </a:t>
            </a:r>
            <a:r>
              <a:rPr dirty="0" err="1"/>
              <a:t>있게</a:t>
            </a:r>
            <a:r>
              <a:rPr dirty="0"/>
              <a:t> </a:t>
            </a:r>
            <a:r>
              <a:rPr dirty="0" err="1"/>
              <a:t>만드는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전처리입니다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FRAME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NASA AFS 무선 프레임 비트 매핑 총괄 구조 (SB1 ~ SB4)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서브블록 (L2)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NASA 공식 규격 (LSIS Vol-A)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기존 오픈소스 (LANS-AFS-SIM)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LNIS 지상 시험베드 구현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규격 판정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SB1 (126 bits)</a:t>
                      </a:r>
                      <a:br/>
                      <a:r>
                        <a:t>프레임 식별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• Frame ID (FID=0, 항법)</a:t>
                      </a:r>
                      <a:br/>
                      <a:r>
                        <a:t>• Time of Interval (TOI=0~99)</a:t>
                      </a:r>
                      <a:br/>
                      <a:r>
                        <a:t>• 패킷 순서 및 경계 검출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NASA 공식 규격과 동일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NASA 공식 규격과 동일</a:t>
                      </a:r>
                      <a:br/>
                      <a:r>
                        <a:t>(FID=0, TOI 0~99 시각 카운터)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100% 완전 일치</a:t>
                      </a:r>
                      <a:br/>
                      <a:r>
                        <a:t>(표준 준수)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SB2 (1,176 bits)</a:t>
                      </a:r>
                      <a:br/>
                      <a:r>
                        <a:t>핵심 궤도력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• 달 궤도선 Ephemeris &amp; Clock</a:t>
                      </a:r>
                      <a:br/>
                      <a:r>
                        <a:t>• MCMF 달 고정 좌표계 슬롯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10개 핵심 요소 탑재 (262b)</a:t>
                      </a:r>
                      <a:br/>
                      <a:r>
                        <a:t>단, 나머지 892비트 패딩 방치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10개 핵심 요소 비트 위치 100% 보존</a:t>
                      </a:r>
                      <a:br/>
                      <a:r>
                        <a:t>(지상 검증용 WGS-84 케플러 매핑)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비트 형식 일치</a:t>
                      </a:r>
                      <a:br/>
                      <a:r>
                        <a:t>(하위 호환성 유지)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SB3 (846 bits)</a:t>
                      </a:r>
                      <a:br/>
                      <a:r>
                        <a:t>보충 궤도력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• 달 중력장(Mascon) 섭동 계수</a:t>
                      </a:r>
                      <a:br/>
                      <a:r>
                        <a:t>• 위성 무결성 경보 (Alert Flag)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미구현</a:t>
                      </a:r>
                      <a:br/>
                      <a:r>
                        <a:t>(0101 더미 데이터 방치)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Type 63 헤더 + LNAV 잔여 459비트</a:t>
                      </a:r>
                      <a:br/>
                      <a:r>
                        <a:t>→ LNAV 720b 100% 무손실 복원 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시험용 독자 확장</a:t>
                      </a:r>
                      <a:br/>
                      <a:r>
                        <a:t>(무손실 궤도 완성)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SB4 (846 bits)</a:t>
                      </a:r>
                      <a:br/>
                      <a:r>
                        <a:t>관측값 및 전리층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• 달 조난 탐색구조 (SAR)</a:t>
                      </a:r>
                      <a:br/>
                      <a:r>
                        <a:t>• 사용자 방송 / 저속 과학 데이터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미구현</a:t>
                      </a:r>
                      <a:br/>
                      <a:r>
                        <a:t>(0101 더미 데이터 방치)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가상 송신시각(T*i) + 의사거리 + Klobuchar</a:t>
                      </a:r>
                      <a:br/>
                      <a:r>
                        <a:t>→ DTN 통신 지연 에뮬레이션 주입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시험용 독자 확장</a:t>
                      </a:r>
                      <a:br/>
                      <a:r>
                        <a:t>(지상 시험 전용)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6235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Malgun Gothic"/>
              </a:defRPr>
            </a:pPr>
            <a:r>
              <a:t>물리 계층(L1): 6,000 bits (750 bytes) 프레임 동기부호(68b) + BCH(52,8) + LDPC SF2/SF3 천공부호화 + 98×60 블록 인터리빙이 L2 비트열 외곽을 감싸 무선 오류를 완전 방어함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SUB-BLOCK 02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SB2 핵심 궤도력 매핑: 케플러 10대 파라미터 상세 비트 명세 (총 1,176 bits)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75895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순번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핵심 파라미터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물리적 의미 및 역할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UBX 원천 (SFRBX)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SB2 비트 위치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할당 크기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Week / ITOW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프레임 시간 식별자 (WN 13b + TOW 9b)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RAWX/SFRBX 공통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Bit 0 ~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22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toe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궤도력 기준시각 (Time of Ephemeris)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SF2 (Word 10)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Bit 22 ~ 37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16 bits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ω (aop)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근지점 인수 (타원 장축 지향 방위)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SF3 (Word 7~8)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Bit 39 ~ 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31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√a (sqrta)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궤도 장반경 제곱근 (타원 절대 크기)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SF2 (Word 8~9)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Bit 70 ~ 101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32 bits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i0 (inc0)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기준 궤도 경사각 (적도면 대비 기울기)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SF3 (Word 5~6)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Bit 102 ~ 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32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Ω0 (omg0)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승교점 적경 (궤도면 관성 경도 회전각)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SF3 (Word 3~4)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Bit 134 ~ 165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32 bits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M0 (m0)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기준 평균 근점각 (타원 궤도 상 초기위상)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SF2 (Word 4~5)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Bit 166 ~ 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32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e (ecc)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궤도 이심률 (타원의 형상 찌그러짐)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SF2 (Word 6~7)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Bit 198 ~ 229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32 bits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af1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위성 시계 1차 표류율 계수 (Drift)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SF1 (Word 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Bit 230 ~ 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16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af0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위성 시계 편차 바이어스 (Bias)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SF1 (Word 10)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Bit 246 ~ 267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22 bits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toc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시계 보정 기준시각 (Time of Clock)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SF1 (Word 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Bit 268 ~ 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16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280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규격 적합 패딩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미사용 영역 표준 0101 교대 패턴 충진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NASA LSIS 표준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Bit 284 ~ 1175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892 bits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03920" y="1417320"/>
            <a:ext cx="2956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41080" y="1554480"/>
            <a:ext cx="2697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D9488"/>
                </a:solidFill>
                <a:latin typeface="Malgun Gothic"/>
              </a:defRPr>
            </a:pPr>
            <a:r>
              <a:t>SB2 아키텍처 설계 의의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NASA 규격 및 오픈소스 호환</a:t>
            </a:r>
          </a:p>
          <a:p>
            <a:pPr>
              <a:spcAft>
                <a:spcPts val="8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레퍼런스 오픈소스(afs_sim.c:eph2sbf)의 262b(Bit 22~283) 레이아웃을 100% 동일하게 보존</a:t>
            </a:r>
            <a:br/>
            <a:r>
              <a:t>• 표준 수신기(pocket_trk)가 단 1비트 수정 없이 즉시 디코딩 가능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WGS-84 케플러 궤도 매핑</a:t>
            </a:r>
          </a:p>
          <a:p>
            <a:pPr>
              <a:spcAft>
                <a:spcPts val="8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지상 검증을 위해 GPS L1 C/A 궤도 파라미터를 비트 단위로 직결</a:t>
            </a:r>
            <a:br/>
            <a:r>
              <a:t>• 6대 기하 요소 + 4대 시계 파라미터로 기본 2체 타원 궤도 전파 완결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규격 패딩 충진 (892 bits)</a:t>
            </a:r>
          </a:p>
          <a:p>
            <a:pPr>
              <a:spcAft>
                <a:spcPts val="8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NASA LSIS Vol-A 프레임 규격(1,176b) 충족용 0101 패턴</a:t>
            </a:r>
            <a:br/>
            <a:r>
              <a:t>• 섭동항을 SB2에 무리하게 끼우지 않고 SB3로 분리하여 호환성 사수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SUB-BLOCK 03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SB3 보충 궤도력 매핑: 6대 조화 섭동항 및 정밀 파라미터 비트 명세 (총 846 bits)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75895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분류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파라미터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물리적 의미 및 보정 역할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UBX 원천 (SFRBX)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SB3 탑재 방식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할당 크기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조화 섭동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  <a:latin typeface="Malgun Gothic"/>
                        </a:defRPr>
                      </a:pPr>
                      <a:r>
                        <a:t>Crs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궤도 반경 Sine 조화 섭동 보정치 (δr)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SF2 (Word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잔여 슬롯 직결 매핑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16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조화 섭동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  <a:latin typeface="Malgun Gothic"/>
                        </a:defRPr>
                      </a:pPr>
                      <a:r>
                        <a:t>Cuc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궤도 위도각 Cosine 조화 섭동치 (δu)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SF2 (Word 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잔여 슬롯 직결 매핑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16 bits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조화 섭동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  <a:latin typeface="Malgun Gothic"/>
                        </a:defRPr>
                      </a:pPr>
                      <a:r>
                        <a:t>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궤도 위도각 Sine 조화 섭동치 (δu)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SF2 (Word 7~8)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잔여 슬롯 직결 매핑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16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조화 섭동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  <a:latin typeface="Malgun Gothic"/>
                        </a:defRPr>
                      </a:pPr>
                      <a:r>
                        <a:t>Cic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궤도 경사각 Cosine 조화 섭동치 (δi)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SF3 (Word 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잔여 슬롯 직결 매핑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16 bits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조화 섭동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  <a:latin typeface="Malgun Gothic"/>
                        </a:defRPr>
                      </a:pPr>
                      <a:r>
                        <a:t>Cis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궤도 경사각 Sine 조화 섭동치 (δi)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SF3 (Word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잔여 슬롯 직결 매핑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16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조화 섭동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  <a:latin typeface="Malgun Gothic"/>
                        </a:defRPr>
                      </a:pPr>
                      <a:r>
                        <a:t>Crc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궤도 반경 Cosine 조화 섭동 보정치 (δr)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SF3 (Word 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잔여 슬롯 직결 매핑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16 bits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정밀 보충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  <a:latin typeface="Malgun Gothic"/>
                        </a:defRPr>
                      </a:pPr>
                      <a:r>
                        <a:t>Δn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평균 운동량 섭동 보정치 (Mean Motion)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SF2 (Word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잔여 슬롯 직결 매핑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16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정밀 보충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  <a:latin typeface="Malgun Gothic"/>
                        </a:defRPr>
                      </a:pPr>
                      <a:r>
                        <a:t>Ω_dot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승교점 세차율 (지구자전 궤도면 회전율)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SF3 (Word 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잔여 슬롯 직결 매핑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24 bits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정밀 보충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  <a:latin typeface="Malgun Gothic"/>
                        </a:defRPr>
                      </a:pPr>
                      <a:r>
                        <a:t>IDOT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궤도 경사각 시간 변화율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SF3 (Word 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잔여 슬롯 직결 매핑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14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시계/지연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  <a:latin typeface="Malgun Gothic"/>
                        </a:defRPr>
                      </a:pPr>
                      <a:r>
                        <a:t>af2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위성 시계 2차 노화 가속도 계수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SF1 (Word 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잔여 슬롯 직결 매핑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 bits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시계/지연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  <a:latin typeface="Malgun Gothic"/>
                        </a:defRPr>
                      </a:pPr>
                      <a:r>
                        <a:t>TGD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L1/L2 하드웨어 전송 군지연차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SF1 (Word 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잔여 슬롯 직결 매핑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280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상태 제어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7C3AED"/>
                          </a:solidFill>
                          <a:latin typeface="Malgun Gothic"/>
                        </a:defRPr>
                      </a:pPr>
                      <a:r>
                        <a:t>Health/Flags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IODE, IODC, URA, SV Health 등 상태 비트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SF1~SF3 제어 플래그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잔여 슬롯 직결 매핑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293 bits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03920" y="1417320"/>
            <a:ext cx="2956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41080" y="1554480"/>
            <a:ext cx="2697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SB3 아키텍처 및 복원 혁신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SB3 물리 구조 총괄 (846 bits)</a:t>
            </a:r>
          </a:p>
          <a:p>
            <a:pPr>
              <a:spcAft>
                <a:spcPts val="8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Type 63 헤더(57b) + navPresent(1b)</a:t>
            </a:r>
            <a:br/>
            <a:r>
              <a:t>• LNAV 잔여 섭동 슬롯(459b): 섭동 6종(96b) + 정밀 계수(70b) + 상태 제어(293b)</a:t>
            </a:r>
            <a:br/>
            <a:r>
              <a:t>• 규격 적합 패딩(329b): 0101 교대 충진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지상 관제국(MCS) 섭동항 수용</a:t>
            </a:r>
          </a:p>
          <a:p>
            <a:pPr>
              <a:spcAft>
                <a:spcPts val="8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미 우주군 관제국이 정밀 궤도 결정(POD)으로 산출한 일일 궤도 보정치를 무손실 수용</a:t>
            </a:r>
            <a:br/>
            <a:r>
              <a:t>• 섭동 누락 시 발생하는 100m~수km 궤도 이탈을 원천 차단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100% 무손실 복원 입증 (1mm 이하)</a:t>
            </a:r>
          </a:p>
          <a:p>
            <a:pPr>
              <a:spcAft>
                <a:spcPts val="800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t>• SB2(262b) + SB3(459b) = LNAV 720 bits 완전 복구</a:t>
            </a:r>
            <a:br/>
            <a:r>
              <a:t>• 복원 데이터의 ECEF 위치 오차: 0.000 mm, 속도 오차: 0.000 m/s 실증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SUB-BLOCK 04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SB4 관측값 및 전리층 매핑: 가상 송신시각과 Klobuchar 모델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97706"/>
                </a:solidFill>
                <a:latin typeface="Malgun Gothic"/>
              </a:defRPr>
            </a:pPr>
            <a:r>
              <a:t>1. SB4 내부 비트 구성 (총 846 bits)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Type 63 헤더 &amp; 인덱스 (80 bits)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Type ID(6b) + Version(8b) + Measurement Index(8b) + Week(16b) + TOW(64b IEEE 754)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가상 송신 시각 T*i 슬롯 (114 bits)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정수 초 (64 bits): GPS epoch 기준 송신 초</a:t>
            </a:r>
            <a:br/>
            <a:r>
              <a:t>• 펨토초 (50 bits): 10⁻¹⁵초 단위 초정밀 분수 시간</a:t>
            </a:r>
            <a:br/>
            <a:r>
              <a:t>• 지연 에뮬레이션을 위한 핵심 시각 데이터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u-blox 원시 관측값 슬롯 (88 bits)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반송파 도플러 주파수 (32b float): 수신기 속도 계산용</a:t>
            </a:r>
            <a:br/>
            <a:r>
              <a:t>• C/N0 (8b uint): 신호 품질 가중치</a:t>
            </a:r>
            <a:br/>
            <a:r>
              <a:t>• 추적 상태 플래그 (8b mask): prValid 유효성 판정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Klobuchar 전리층 모델 (249 bits)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전리층 유효 플래그(1b) + 수신 PRN(8b)</a:t>
            </a:r>
            <a:br/>
            <a:r>
              <a:t>• 24-bit Word 10개 (240b): 알파 계수 4개 + 베타 계수 4개 (SF4 Page 18)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패딩 비트 (315 bits)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846비트 규격 충족용 0101 교대 패딩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2. 가상 송신 시각(T*i)을 탑재하는 이유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의사거리를 직접 전송할 때의 문제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지상 의사거리(약 20,000 km)를 단순 전송하면, 수신 노드는 지상에서의 측정값을 그대로 재현할 뿐 우주 환경의 1.3초 전파 지연을 체험할 수 없음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가상 송신 시각(T*i) 주입의 원리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지상 수신 시각(Trx)에서 전파 전달 시간을 차감:</a:t>
            </a:r>
            <a:br/>
            <a:r>
              <a:t>  T*i = Trx - (ρ / c)</a:t>
            </a:r>
            <a:br/>
            <a:r>
              <a:t>• 의사거리 대신 위성이 신호를 쏜 절대 시각 T*i를 펨토초 단위로 패키징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수신 노드에서의 지연 에뮬레이션 역산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수신 노드는 패킷이 실제 도착한 시각(T'rx)과 패킷 내부의 T*i를 비교:</a:t>
            </a:r>
            <a:br/>
            <a:r>
              <a:t>  ρ' = c × (T'rx - T*i)</a:t>
            </a:r>
            <a:br/>
            <a:r>
              <a:t>• DTN 통신망에서 1.3초 지연되어 전달되면, 의사거리 역시 384,000 km에 상응하는 우주 전파 지연이 완벽히 시뮬레이션됨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STAGE 04 : DTN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DTN 통신 및 1.3초 달-지구 전파 지연 에뮬레이션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97706"/>
                </a:solidFill>
                <a:latin typeface="Malgun Gothic"/>
              </a:defRPr>
            </a:pPr>
            <a:r>
              <a:t>1. 지구-달 우주 환경의 통신 제약 조건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극단적 통신 지연 (One-Way Light Time)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지구-달 평균 거리: 약 384,400 km</a:t>
            </a:r>
            <a:br/>
            <a:r>
              <a:t>• 전파 속도: c ≈ 299,792,458 m/s</a:t>
            </a:r>
            <a:br/>
            <a:r>
              <a:t>• 편도 지연 시간: 약 1.28 ~ 1.35초 (왕복 RTT 약 2.6초)</a:t>
            </a:r>
            <a:br/>
            <a:r>
              <a:t>• 기존 TCP/IP의 3-Way Handshake 및 타임아웃 메커니즘 완전 붕괴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DTN (Delay-Tolerant Networking) 표준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IETF RFC 9171 표준 BPv7 (Bundle Protocol Version 7) 적용</a:t>
            </a:r>
            <a:br/>
            <a:r>
              <a:t>• 노드 간 세션 연결 없이 번들(Bundle) 단위로 데이터를 전송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지상 시험베드에서의 실증 가치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고속 LAN 상에서 소프트웨어적으로 1.3초 지연 버퍼를 주입하면서도, 타임스탬프 왜곡 없는 항법 연속성을 입증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2. DelayTransferCodec의 정밀 시각 파이프라인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송신 노드 (Sender Node)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RAWX 수신 즉시 의사거리(ρ)로부터 가상 송신시각(T*i) 계산</a:t>
            </a:r>
            <a:br/>
            <a:r>
              <a:t>• SB2(궤도), SB3(보충), SB4(지연시각)를 인코딩하여 번들 페이로드 생성</a:t>
            </a:r>
            <a:br/>
            <a:r>
              <a:t>• DTN 소켓을 통해 수신 노드로 무선 번들 발송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우주 지연 채널 에뮬레이터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설정된 시나리오에 따라 1.3초 동안 패킷을 버퍼링 후 전달</a:t>
            </a:r>
            <a:br/>
            <a:r>
              <a:t>• 우주 환경의 링크 지터(Jitter) 및 전파 지연을 물리적으로 재현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수신 노드 (Receiver Node)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번들 수신 즉시 로컬 수신 시각(T'rx) 기록</a:t>
            </a:r>
            <a:br/>
            <a:r>
              <a:t>• T*i를 역산하여 지연이 반영된 의사거리(ρ')를 재구성하고 PVT 엔진으로 전달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STAGE 05 : FRAME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수신 복원 및 검증: 100% 무손실 복구 메커니즘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47472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Malgun Gothic"/>
              </a:defRPr>
            </a:pPr>
            <a:r>
              <a:t>1. LNAV 비트열 완전 재조합</a:t>
            </a:r>
          </a:p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SB2(262b) + SB3(459b) = 720b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SB2에서 10개 핵심 요소를 비트 마스크로 추출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SB3에서 Type 63 헤더를 떼어내고 잔여 459비트 추출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원래 GPS LNAV 1~3 서브프레임의 32-bit Word 30개로 1:1 역매핑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조화 섭동항(Cuc..Cis) 및 가속도(af2)가 원래 비트 위치로 완벽 복구됨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3474720" cy="6858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  <a:latin typeface="Malgun Gothic"/>
              </a:defRPr>
            </a:pPr>
            <a:r>
              <a:t>2. ObservationEpoch 재생성</a:t>
            </a:r>
          </a:p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지연 역산 의사거리 및 관측값 복원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402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가상 송신 시각 T*i와 수신 시각의 차이로 정밀 의사거리 복원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도플러 주파수(32b float) 및 C/N0(8b uint)를 원래 double/float로 변환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Klobuchar 전리층 모델 10개 워드를 다시 복원하여 에폭 헤더에 첨부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원래의 GRAW ObservationEpoch 객체로 100% 재생성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41732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80" y="1417320"/>
            <a:ext cx="3474720" cy="6858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7C3AED"/>
                </a:solidFill>
                <a:latin typeface="Malgun Gothic"/>
              </a:defRPr>
            </a:pPr>
            <a:r>
              <a:t>3. End-to-End 정밀도 검증 결과</a:t>
            </a:r>
          </a:p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오차 = 0.000 mm 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2402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송신단 원본 GRAW 레코드와 수신단 복원 레코드의 SHA-256 비트 비교 통과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복원된 데이터로 RTKLIB PVT 연산 수행 결과: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  - ECEF X, Y, Z 좌표 차이: 0.000 mm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  - 속도(Vx, Vy, Vz) 차이: 0.000 m/s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무선 프레임을 통과해도 계측 정밀도가 100% 보존됨을 공학적으로 실증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D9488"/>
                </a:solidFill>
                <a:latin typeface="Malgun Gothic"/>
              </a:defRPr>
            </a:pPr>
            <a:r>
              <a:t>공학적 결론: NASA AFS 무선 프레임 규격(SB1~SB4)을 충족하면서도, 독자적 비트 패키징 설계를 통해 지상 수신기의 원래 계측 한계(밀리미터급)를 단 1의 왜곡도 없이 종단간(End-to-End) 전달하는 데 성공하였습니다.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STAGE 06 : PVT 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PVT 연산 메커니즘: 왜 필요하고 어디에 쓰이는가?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257800" cy="594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1. 항법 메시지 (SB2 + SB3)</a:t>
            </a:r>
          </a:p>
          <a:p>
            <a:pPr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위성 우주 좌표(X, Y, Z) 및 위성 시계 오차(dt^s) 산출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983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쓰이는 곳: 케플러 궤도 전파 방정식(Kepler Orbit Propagation)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궤도 16요소를 대입하여 해당 관측 시점(t)에서의 위성 3차원 ECEF 좌표 계산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다항식 계수(af0, af1, af2)로 위성 원자시계 오차 및 상대론적 효과 보정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없으면 발생하는 문제: 위성의 우주 위치를 알 수 없어 거리 측정이 무용지물이 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5257800" cy="59436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490472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Malgun Gothic"/>
              </a:defRPr>
            </a:pPr>
            <a:r>
              <a:t>2. 의사거리 측정값 (SB4)</a:t>
            </a:r>
          </a:p>
          <a:p>
            <a:pPr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수신기 미지수(x, y, z, dt_r) 4차원 연립방정식 풀이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75688"/>
            <a:ext cx="4983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쓰이는 곳: 기본 관측 방정식 ρ_i = ||X_i - x|| + c·(dt_r - dt^s_i) + I_i + T_i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미지수가 4개이므로 최소 4기 이상의 위성 연립방정식 구성 필수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테일러 전개 기반 선형화 후 최소자승법(LSQ) 반복 계산으로 최적 위치 수렴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없으면 발생하는 문제: 수신기와 위성 간 거리를 알 수 없어 위치 측위 불가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5257800" cy="59436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913632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Malgun Gothic"/>
              </a:defRPr>
            </a:pPr>
            <a:r>
              <a:t>3. 도플러 주파수 (SB4)</a:t>
            </a:r>
          </a:p>
          <a:p>
            <a:pPr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수신기 3차원 속도(Vx, Vy, Vz) 및 시계 표류율 산출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98848"/>
            <a:ext cx="4983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쓰이는 곳: 속도 관측 방정식 f_d = -(f_0 / c) · [(v_sat - v_rx) · u_los + c·dt_dot]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수신기가 초당 몇 미터로 움직이는지 3차원 속도 벡터 계산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수신기 내부 발진기의 주파수 편이율(Clock Drift) 동시 추정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없으면 발생하는 문제: 위치 미분에만 의존해야 하므로 속도 오차가 수 배 증가함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3840480"/>
            <a:ext cx="5257800" cy="5943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3913632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Malgun Gothic"/>
              </a:defRPr>
            </a:pPr>
            <a:r>
              <a:t>4. C/N0 &amp; 전리층 모델 (SB4)</a:t>
            </a:r>
          </a:p>
          <a:p>
            <a:pPr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가중치 행렬(W) 구성 및 대기 전파 지연 제거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498848"/>
            <a:ext cx="4983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쓰이는 곳 (C/N0): 신호 품질이 좋은 고앙각 위성에 가중치를 부여하는 WLS(가중최소자승)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쓰이는 곳 (전리층): 대기 통과 시 발생하는 수 미터 지연 오차를 Klobuchar 모델로 사전 감산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없으면 발생하는 문제: 저품질 신호 및 대기 지연으로 인해 수 미터 이상의 위치 튐 발생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DEEP DIVE 01 : LUNAR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달 환경 적응성: 전리층 슬롯 재활용 및 MCMF 좌표계 변환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97706"/>
                </a:solidFill>
                <a:latin typeface="Malgun Gothic"/>
              </a:defRPr>
            </a:pPr>
            <a:r>
              <a:t>1. 달 표면 전리층 부재와 SB4 슬롯 재활용 방안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달의 물리적 환경 특성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달은 대기와 전리층이 거의 존재하지 않는 진공 환경 (초희박 외기권)</a:t>
            </a:r>
            <a:br/>
            <a:r>
              <a:t>• 따라서 지구의 Klobuchar나 NeQuick-G와 같은 대기 굴절 보정이 불필요함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NASA 규격서의 본래 목적 (LSIS Vol-A)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SB4는 달 조난 탐색구조(Lunar SAR) 및 저속 과학 데이터/사용자 방송용 슬롯</a:t>
            </a:r>
            <a:br/>
            <a:r>
              <a:t>• 현재 지상 시험베드는 검증 편의를 위해 Klobuchar 240비트를 임시 탑재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실제 달 운용 시의 슬롯 전용(Repurposing)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전리층 240비트 영역을 **달 탐사 로버 텔레메트리**, **태양풍 플라즈마 지연 계수**, 또는 **달 표면 다중경로(Multipath) 반사 보정치**로 100% 전용하여 우주 대역폭 낭비를 원천 차단함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2. WGS-84(지구)에서 MCMF(달) 좌표계로의 전환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케플러 궤도 파라미터의 수학적 보편성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6대 케플러 요소(a, e, i, Ω, ω, M)는 중심 천체가 지구든 달이든 수학적 정의가 동일한 무차원/표준 파라미터임</a:t>
            </a:r>
            <a:br/>
            <a:r>
              <a:t>• 따라서 비트 매핑 구조(SB2 262 bits)를 단 1비트도 수정할 필요가 없음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치환되는 천체 물리 상수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중심 천체 중력 상수: μ_Earth (3.986×10¹⁴) → μ_Moon (4.904×10¹² m³/s²)</a:t>
            </a:r>
            <a:br/>
            <a:r>
              <a:t>• 기준 타원체 반경: R_Earth (6,378 km) → R_Moon (1,737.4 km)</a:t>
            </a:r>
            <a:br/>
            <a:r>
              <a:t>• 자전 각속도: ω_e (7.292×10⁻⁵) → ω_m (2.661×10⁻⁶ rad/s, 27.3일 주기)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소프트웨어적 전환의 용이성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RTKLIB 내부 상수 정의 3개만 교체하면 즉시 달 궤도선 위치 계산으로 전환 가능한 유연한 아키텍처 완성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DEEP DIVE 02 : PHYSICS &amp;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물리 및 항법 한계 극복: 상대론적 효과와 희소 위성 EKF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7C3AED"/>
                </a:solidFill>
                <a:latin typeface="Malgun Gothic"/>
              </a:defRPr>
            </a:pPr>
            <a:r>
              <a:t>1. 달 중력(1/6g)에 따른 상대론적 시계 가속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일반 상대성 이론에 따른 시간 지연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중력 포텐셜이 낮을수록(중력이 약할수록) 시간은 더 빠르게 흐름</a:t>
            </a:r>
            <a:br/>
            <a:r>
              <a:t>• 달의 중력은 지구의 약 1/6에 불과하므로, 달 표면 시계는 지구 기준시계보다 매일 **약 +56.02 마이크로초(μs)** 빠르게 진행됨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항법 측위 오차 환산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1 마이크로초(μs)의 시계 오차는 전파 속도(c)로 곱하면 약 300m 오차 발생</a:t>
            </a:r>
            <a:br/>
            <a:r>
              <a:t>• 56 μs를 방치할 경우 매일 약 16.8 km의 누적 위치 오차 유발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PVT 엔진의 보정 메커니즘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케플러 상대론 보정항 Δtr = F·e·√a·sin(E) 외에, 달 중심 좌표계 기준 정적 포텐셜 차이를 위성 시계 다항식(af0)의 기본 바이어스로 사전 감산 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D9488"/>
                </a:solidFill>
                <a:latin typeface="Malgun Gothic"/>
              </a:defRPr>
            </a:pPr>
            <a:r>
              <a:t>2. 가시 위성 4기 미만(희소 환경) EKF 복합항법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달 환경의 위성 기하학적 한계 (DOP 악화)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지구는 32개 위성 중 8~12기가 보이지만, 달 궤도선은 2~4기에 불과함</a:t>
            </a:r>
            <a:br/>
            <a:r>
              <a:t>• 특히 달 극지 크레이터나 음영 지역에서는 가시 위성이 1~2기로 급감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최소자승법(LSQ)의 한계와 EKF 전환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4기 미만에서는 순수 LSQ 연립방정식 풀이가 불가능 (미지수 4개 &gt; 방정식 수)</a:t>
            </a:r>
            <a:br/>
            <a:r>
              <a:t>• 따라서 **확장 칼만 필터(EKF)** 기반의 상태 공간 모델로 전환</a:t>
            </a:r>
          </a:p>
          <a:p>
            <a:pPr>
              <a:spcAft>
                <a:spcPts val="100"/>
              </a:spcAft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복합 센서 결합 및 도플러 측위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Malgun Gothic"/>
              </a:defRPr>
            </a:pPr>
            <a:r>
              <a:t>• 로버 자체 IMU(관성센서) 및 달 고도계(Altimeter)로 연직 좌표를 구속(Height Constraint)</a:t>
            </a:r>
            <a:br/>
            <a:r>
              <a:t>• 1~2개 위성에서 수신되는 도플러 주파수 변화율(Doppler Shift Rate)을 시간 적분하여 단일 위성만으로도 위치 수렴 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DEEP DIVE 03 : DTN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통신 두절 복구, QZSS 즉시 연동 및 RF 무선 변조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47472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Malgun Gothic"/>
              </a:defRPr>
            </a:pPr>
            <a:r>
              <a:t>1. 달 뒷면 차폐(Occultation)와 DTN</a:t>
            </a:r>
          </a:p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저장-전달(Store &amp; Forward) 복구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물리적 두절: 궤도선이 달 뒷면으로 들어가면 수십 분간 지구 링크 완전 두절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TCP의 한계: 타임아웃으로 세션이 끊기고 데이터 폐기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DTN BPv7의 해결: 비휘발성 저장소에 번들을 보관(Store)하다가 링크 재개 시 자동 일괄 전송(Forward)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시험베드 검증: 링크 단절 중에도 에폭 시각 무결성이 유지됨을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3474720" cy="6858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  <a:latin typeface="Malgun Gothic"/>
              </a:defRPr>
            </a:pPr>
            <a:r>
              <a:t>2. QZSS(일본 준천정) 즉시 연동</a:t>
            </a:r>
          </a:p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1줄의 코덱 조건 변경으로 호환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402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기술적 동일성: QZSS L1 C/A는 GPS LNAV와 주파수(1575.42 MHz), 워드 수(10w), 비트 규격이 100% 동일함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현재 시험베드 적용: AfsPvtFrameCodec에서 constellationId == 5 허용 분기만 열어주면 별도 비트 매핑 테이블 없이 즉시 AFS 시험베드 연동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가장 빠른 Multi-GNSS 실증 확장 포인트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41732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80" y="1417320"/>
            <a:ext cx="3474720" cy="6858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7C3AED"/>
                </a:solidFill>
                <a:latin typeface="Malgun Gothic"/>
              </a:defRPr>
            </a:pPr>
            <a:r>
              <a:t>3. RF 무선 전파 변조 (I/Q Modulation)</a:t>
            </a:r>
          </a:p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소프트웨어 비트에서 무선 신호로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2402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L2 비트열 완성: 조립된 6,000비트 프레임을 PocketSDR-AFS 네이티브 코어로 전달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디지털 변조: BPSK/QPSK 변조를 거쳐 복소수 I(In-phase) / Q(Quadrature) 심볼 스트림 생성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t>• SDR 하드웨어 방사: HackRF / USRP 송신기를 통해 1.5 GHz 대역의 실제 전파로 발사되어 수신기로 도달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시스템 확장성 종합: 지상 수신 소프트웨어(Java)에서 우주 통신망(DTN), 그리고 실제 전파 송출(SDR I/Q)까지 전 계층이 모듈화되어 실전 우주 탐사 프로젝트로 즉각 이식 가능한 완성도를 확보하였습니다.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SUMMARY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LNIS 지상 시험베드의 독보적 엔지니어링 가치 종합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224028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Malgun Gothic"/>
              </a:defRPr>
            </a:pPr>
            <a:r>
              <a:t>01. NASA 공식 규격 100% 정합</a:t>
            </a:r>
          </a:p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LSIS Vol-A 표준 완벽 충족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Malgun Gothic"/>
              </a:defRPr>
            </a:pPr>
            <a:r>
              <a:t>• 6,000 bits (750 bytes) 프레임 주기(12초) 및 물리 계층(L1) 부호화 완벽 구현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Malgun Gothic"/>
              </a:defRPr>
            </a:pPr>
            <a:r>
              <a:t>• Frame ID(FID=0), TOI, 비트 패딩 위치 100% 호환성 유지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257800" cy="224028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Malgun Gothic"/>
              </a:defRPr>
            </a:pPr>
            <a:r>
              <a:t>02. 무손실 궤도 복원 달성</a:t>
            </a:r>
          </a:p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오차 100m → 1mm 이하 축소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Malgun Gothic"/>
              </a:defRPr>
            </a:pPr>
            <a:r>
              <a:t>• 기존 오픈소스의 결함(6요소 가정 100m 오차)을 극복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Malgun Gothic"/>
              </a:defRPr>
            </a:pPr>
            <a:r>
              <a:t>• SB2 케플러 10요소 보존 + SB3 LNAV 잔여 비트 무손실 확장으로 궤도 100% 복원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03. 우주 통신 지연 에뮬레이션</a:t>
            </a:r>
          </a:p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DTN + 가상 송신 시각 실증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Malgun Gothic"/>
              </a:defRPr>
            </a:pPr>
            <a:r>
              <a:t>• 지구-달 1.3초 전파 지연 환경을 50-bit 펨토초 정밀도 가상 송신 시각으로 구현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Malgun Gothic"/>
              </a:defRPr>
            </a:pPr>
            <a:r>
              <a:t>• DTN 번들 프로토콜 기반 지상-달 탐사선 간 통신 메커니즘 완비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Malgun Gothic"/>
              </a:defRPr>
            </a:pPr>
            <a:r>
              <a:t>04. 높은 모듈화 및 확장성</a:t>
            </a:r>
          </a:p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계층 분리를 통한 Multi-GNSS 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1772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Malgun Gothic"/>
              </a:defRPr>
            </a:pPr>
            <a:r>
              <a:t>• 수신(UBX) - 프레임(AFS) - 전송(DTN) - 계산(RTKLIB)이 완벽히 독립적으로 설계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Malgun Gothic"/>
              </a:defRPr>
            </a:pPr>
            <a:r>
              <a:t>• QZSS 즉시 연동 및 Galileo/BeiDou로의 유연한 확장 구조 확보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2994</Words>
  <Application>Microsoft Office PowerPoint</Application>
  <PresentationFormat>와이드스크린</PresentationFormat>
  <Paragraphs>440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IMT</cp:lastModifiedBy>
  <cp:revision>2</cp:revision>
  <dcterms:created xsi:type="dcterms:W3CDTF">2013-01-27T09:14:16Z</dcterms:created>
  <dcterms:modified xsi:type="dcterms:W3CDTF">2026-10-13T05:40:13Z</dcterms:modified>
  <cp:category/>
</cp:coreProperties>
</file>